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450" y="2028825"/>
            <a:ext cx="19431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362" y="4476750"/>
            <a:ext cx="2581275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5550" y="2514600"/>
            <a:ext cx="7200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0" sz="4500" i="0" u="none">
                <a:solidFill>
                  <a:srgbClr val="0F172A"/>
                </a:solidFill>
                <a:latin typeface="Kanit SemiBold"/>
              </a:rPr>
              <a:t>จากบิ๊กแบงสู่ห้วงอวกาศ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3390900"/>
            <a:ext cx="685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Sarabun"/>
              </a:rPr>
              <a:t>ร่วมเจาะลึกทฤษฎีกำเนิดจักรวาล ค้นพบความลึกลับสุดขอบระบบสุริยะ และเปิดประตูก้าวสำคัญที่ผลักดันประเทศไทยสู่เวทีอวกาศยุคดิจิทัล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362" y="4657725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5" y="2190750"/>
            <a:ext cx="4714875" cy="323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450" y="2804517"/>
            <a:ext cx="54959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Sarabun"/>
              </a:rPr>
              <a:t>จุดกำเนิดเอกภพ:</a:t>
            </a:r>
            <a:r>
              <a:rPr b="0" sz="1275" i="0" u="none">
                <a:solidFill>
                  <a:srgbClr val="475569"/>
                </a:solidFill>
                <a:latin typeface="Sarabun"/>
              </a:rPr>
              <a:t> ทฤษฎีบิ๊กแบง (Big Bang) ระบุว่าเมื่อราว 13,800 ล้านปีก่อน เอกภพขยายตัวอย่างฉับพลันจากจุดที่มีพลังงานและความหนาแน่นมหาศาล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" y="3474839"/>
            <a:ext cx="54959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Sarabun"/>
              </a:rPr>
              <a:t>การก่อตัวของสสาร:</a:t>
            </a:r>
            <a:r>
              <a:rPr b="0" sz="1275" i="0" u="none">
                <a:solidFill>
                  <a:srgbClr val="475569"/>
                </a:solidFill>
                <a:latin typeface="Sarabun"/>
              </a:rPr>
              <a:t> แรงและอนุภาคพื้นฐานเริ่มรวมตัว เกิดเป็นไฮโดรเจนและฮีเลียม ก่อนกลายเป็นดาวฤกษ์และกาแล็กซีในเวลาต่อมา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4145160"/>
            <a:ext cx="54959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Sarabun"/>
              </a:rPr>
              <a:t>รังสีไมโครเวฟพื้นหลัง (CMB):</a:t>
            </a:r>
            <a:r>
              <a:rPr b="0" sz="1275" i="0" u="none">
                <a:solidFill>
                  <a:srgbClr val="475569"/>
                </a:solidFill>
                <a:latin typeface="Sarabun"/>
              </a:rPr>
              <a:t> คลื่นความร้อนจางๆ ทั่วท้องฟ้าเป็นหลักฐานชิ้นสำคัญที่แสดงถึงรอยจารึกของพลังงานตกค้างในยุคกำเนิดจักรวาล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2200275"/>
            <a:ext cx="4695825" cy="3219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2794992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284C7"/>
                </a:solidFill>
                <a:latin typeface="Sarabun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465314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284C7"/>
                </a:solidFill>
                <a:latin typeface="Sarabun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13563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284C7"/>
                </a:solidFill>
                <a:latin typeface="Sarabun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76250"/>
            <a:ext cx="1126140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บิ๊กแบง: จุดกำเนิดอวกาศและกาลเวลา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476250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857500"/>
            <a:ext cx="2497335" cy="12456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705" y="3802558"/>
            <a:ext cx="2497335" cy="12456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660" y="2857500"/>
            <a:ext cx="2497335" cy="12456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616" y="3802558"/>
            <a:ext cx="2497335" cy="1245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750" y="393382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340" y="3038475"/>
            <a:ext cx="224215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Kanit Medium"/>
              </a:rPr>
              <a:t>0 วินาที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81375"/>
            <a:ext cx="213538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Sarabun"/>
              </a:rPr>
              <a:t>บิ๊กแบงเกิดขึ้น</a:t>
            </a:r>
            <a:r>
              <a:rPr b="0" sz="1050" i="0" u="none">
                <a:solidFill>
                  <a:srgbClr val="475569"/>
                </a:solidFill>
                <a:latin typeface="Sarabun"/>
              </a:rPr>
              <a:t> เอกภพขยายตัวอย่างรวดเร็ว (Cosmic Inflation)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95" y="3983533"/>
            <a:ext cx="224215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Kanit Medium"/>
              </a:rPr>
              <a:t>3 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4680" y="4326433"/>
            <a:ext cx="213538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Sarabun"/>
              </a:rPr>
              <a:t>นิวเคลียสอะตอมแรก</a:t>
            </a:r>
            <a:r>
              <a:rPr b="0" sz="1050" i="0" u="none">
                <a:solidFill>
                  <a:srgbClr val="475569"/>
                </a:solidFill>
                <a:latin typeface="Sarabun"/>
              </a:rPr>
              <a:t> นิวเคลียสของไฮโดรเจนและฮีเลียมเริ่มสร้างขึ้น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251" y="3038475"/>
            <a:ext cx="224215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Kanit Medium"/>
              </a:rPr>
              <a:t>3.8 แสนปี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1635" y="3381375"/>
            <a:ext cx="213538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Sarabun"/>
              </a:rPr>
              <a:t>แสงเดินทางอิสระ</a:t>
            </a:r>
            <a:r>
              <a:rPr b="0" sz="1050" i="0" u="none">
                <a:solidFill>
                  <a:srgbClr val="475569"/>
                </a:solidFill>
                <a:latin typeface="Sarabun"/>
              </a:rPr>
              <a:t> อะตอมสมบูรณ์ เอกภพโปร่งแสงและเกิดคลื่น CMB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5206" y="3983533"/>
            <a:ext cx="224215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Kanit Medium"/>
              </a:rPr>
              <a:t>400 ล้านปี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591" y="4326433"/>
            <a:ext cx="213538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Sarabun"/>
              </a:rPr>
              <a:t>ดาวฤกษ์ดวงแรก</a:t>
            </a:r>
            <a:r>
              <a:rPr b="0" sz="1050" i="0" u="none">
                <a:solidFill>
                  <a:srgbClr val="475569"/>
                </a:solidFill>
                <a:latin typeface="Sarabun"/>
              </a:rPr>
              <a:t> สสารจับกลุ่มกันด้วยแรงโน้มถ่วงและยุบตัวจุดระเบิด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76250"/>
            <a:ext cx="1126140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วิวัฒนาการเอกภพ 1.38 หมื่นล้านปี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" y="476250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29692" y="38671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6648" y="38671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3603" y="38671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90559" y="38671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100" y="523875"/>
            <a:ext cx="506063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สุดขอบระบบสุริยะ: แถบไคเปอร์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523875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2963465"/>
            <a:ext cx="52006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Kanit Medium"/>
              </a:rPr>
              <a:t>ดินแดนน้ำแข็งเยือกแข็งห่างไกล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392090"/>
            <a:ext cx="4953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Sarabun"/>
              </a:rPr>
              <a:t>ถัดจากวงโคจรดาวเนปจูนออกไปราว 30 ถึง 50 เท่าของระยะทางจากโลกถึงดวงอาทิตย์ คือพื้นที่ที่เรียกว่า </a:t>
            </a:r>
            <a:r>
              <a:rPr b="1" sz="1275" i="0" u="none">
                <a:solidFill>
                  <a:srgbClr val="475569"/>
                </a:solidFill>
                <a:latin typeface="Sarabun"/>
              </a:rPr>
              <a:t>"แถบไคเปอร์" (Kuiper Belt)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024312"/>
            <a:ext cx="4953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Sarabun"/>
              </a:rPr>
              <a:t>ดินแดนแห่งนี้เป็นแหล่งรวมวัตถุน้ำแข็ง ดาวเคราะห์แคระ เช่น ดาวพลูโต และเศษสสารดึกดำบรรพ์ที่คงสภาพตั้งแต่ยุคแรกเริ่มของการสร้างระบบสุริยะ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133600"/>
            <a:ext cx="3460700" cy="3352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2133600"/>
            <a:ext cx="3460700" cy="3352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133600"/>
            <a:ext cx="3460700" cy="3352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81250"/>
            <a:ext cx="2965400" cy="171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381250"/>
            <a:ext cx="296540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381250"/>
            <a:ext cx="296540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86250"/>
            <a:ext cx="1000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Kanit Medium"/>
              </a:rPr>
              <a:t>1. เฮลิโอพอส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7250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Sarabun"/>
              </a:rPr>
              <a:t>จุดที่ลมสุริยะพัดไปสิ้นสุดและปะทะกับรังสีคอสมิกจากนอกกาแล็กซี ถือเป็นเกราะด่านแรก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4286250"/>
            <a:ext cx="92011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Kanit Medium"/>
              </a:rPr>
              <a:t>2. เมฆออร์ท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4667250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Sarabun"/>
              </a:rPr>
              <a:t>ขอบเขตแรงโน้มถ่วงดวงอาทิตย์ที่ห่างไปไกลกว่า 1 ปีแสง แหล่งรวมตัวของดาวหางคาบยาว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4286250"/>
            <a:ext cx="16302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Kanit Medium"/>
              </a:rPr>
              <a:t>3. อวกาศระหว่างดาว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4667250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Sarabun"/>
              </a:rPr>
              <a:t>น่านอวกาศว่างเปล่าที่ลึกลับ ยาน Voyager 1 และ 2 เป็นวัตถุที่มนุษย์สร้างและไปเยือนได้สำเร็จ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2390775"/>
            <a:ext cx="2946350" cy="1695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2750" y="2390775"/>
            <a:ext cx="2946350" cy="1695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575" y="2390775"/>
            <a:ext cx="2946350" cy="1695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0100" y="476250"/>
            <a:ext cx="1126140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สามพรมแดนปลายขอบของระบบสุริยะ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750" y="476250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38250"/>
            <a:ext cx="108585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332089"/>
            <a:ext cx="10858500" cy="765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" y="476250"/>
            <a:ext cx="1126140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ระยะทางการเดินทางในระบบสุริยะชั้นนอก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" y="476250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5" y="2190750"/>
            <a:ext cx="4714875" cy="323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450" y="2804517"/>
            <a:ext cx="54959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Sarabun"/>
              </a:rPr>
              <a:t>ดาวเทียมฝีมือคนไทย THEOS-2:</a:t>
            </a:r>
            <a:r>
              <a:rPr b="0" sz="1275" i="0" u="none">
                <a:solidFill>
                  <a:srgbClr val="475569"/>
                </a:solidFill>
                <a:latin typeface="Sarabun"/>
              </a:rPr>
              <a:t> ดาวเทียมสำรวจทรัพยากรโลกความละเอียดสูงพิเศษ ช่วยยกระดับเทคโนโลยีภูมิสารสนเทศของชาติ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" y="3474839"/>
            <a:ext cx="54959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Sarabun"/>
              </a:rPr>
              <a:t>ภาคีวิจัยอวกาศไทย (TSC):</a:t>
            </a:r>
            <a:r>
              <a:rPr b="0" sz="1275" i="0" u="none">
                <a:solidFill>
                  <a:srgbClr val="475569"/>
                </a:solidFill>
                <a:latin typeface="Sarabun"/>
              </a:rPr>
              <a:t> การลงนามความร่วมมือระหว่างสถาบันวิทยาศาสตร์ เพื่อออกแบบและสร้างยานสำรวจและดาวเทียมด้วยฝีมือคนไทย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4145160"/>
            <a:ext cx="54959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Sarabun"/>
              </a:rPr>
              <a:t>พันธมิตรระดับสากล:</a:t>
            </a:r>
            <a:r>
              <a:rPr b="0" sz="1275" i="0" u="none">
                <a:solidFill>
                  <a:srgbClr val="475569"/>
                </a:solidFill>
                <a:latin typeface="Sarabun"/>
              </a:rPr>
              <a:t> การร่วมวิจัยพัฒนาในโครงการดวงจันทร์ Chang'e 8 แสดงถึงการได้รับการยอมรับทางวิศวกรรมระดับโลก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2200275"/>
            <a:ext cx="4695825" cy="3219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2794992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284C7"/>
                </a:solidFill>
                <a:latin typeface="Sarabun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465314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284C7"/>
                </a:solidFill>
                <a:latin typeface="Sarabun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13563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284C7"/>
                </a:solidFill>
                <a:latin typeface="Sarabun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76250"/>
            <a:ext cx="1126140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คนไทยสู่อวกาศ: นวัตกรรมดาวเทียม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476250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538710"/>
            <a:ext cx="5238750" cy="25425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38710"/>
            <a:ext cx="5238750" cy="2542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2833985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284C7"/>
                </a:solidFill>
                <a:latin typeface="Kanit Medium"/>
              </a:rPr>
              <a:t>สร้างห่วงโซ่อุตสาหกรรมในประเทศ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262610"/>
            <a:ext cx="4552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Sarabun"/>
              </a:rPr>
              <a:t>การพัฒนาชิ้นส่วนดาวเทียมและสถานีควบคุมภาคพื้นดินช่วยยกระดับความรู้ในสถาบันการศึกษาและวิศวกรไทย โดยลดการนำเข้าและส่งออกทักษะระดับสูงสู่ตลาดโลก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4153792"/>
            <a:ext cx="4552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Sarabun"/>
              </a:rPr>
              <a:t>สร้างระบบนิเวศนวัตกรรมใหม่ด้าน Deep Tech และอวกาศที่กระตุ้นมูลค่าเชิงเศรษฐกิจอุตสาหกรรมในประเทศกว่า 5.6 หมื่นล้านบาทต่อปี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833985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284C7"/>
                </a:solidFill>
                <a:latin typeface="Kanit Medium"/>
              </a:rPr>
              <a:t>ประโยชน์สู่ชุมชนและชีวิตประจำวัน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262610"/>
            <a:ext cx="45529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Sarabun"/>
              </a:rPr>
              <a:t>ข้อมูลอวกาศมีบทบาทสำคัญมากในการพยากรณ์อากาศที่แม่นยำเพื่อภาคการเกษตร การตรวจวัดวิเคราะห์ฝุ่นพิษ PM 2.5 ตลอดจนจัดการภัยพิบัติและน้ำท่วมฉับพลัน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153792"/>
            <a:ext cx="4552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Sarabun"/>
              </a:rPr>
              <a:t>นวัตกรรมเหล่านี้ไม่ใช่เรื่องไกลตัว แต่เป็นโครงสร้างพื้นฐานยุคดิจิทัลเพื่อคุณภาพชีวิตที่ดีขึ้นของคนไทยทุกคน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76250"/>
            <a:ext cx="1126140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Kanit SemiBold"/>
              </a:rPr>
              <a:t>อนาคตและโอกาสเศรษฐกิจอวกาศไทย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476250"/>
            <a:ext cx="47625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287" y="2442269"/>
            <a:ext cx="114014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500" i="0" u="none">
                <a:solidFill>
                  <a:srgbClr val="0F172A"/>
                </a:solidFill>
                <a:latin typeface="Kanit SemiBold"/>
              </a:rPr>
              <a:t>มีคำถามข้อเสนอแนะเพิ่มเติมไหม?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3442394"/>
            <a:ext cx="108585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Sarabun"/>
              </a:rPr>
              <a:t>เพื่อการเดินทางค้นหาคำตอบทางวิทยาศาสตร์ และความก้าวหน้าด้านเทคโนโลยีอวกาศของประเทศไทย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158555"/>
            <a:ext cx="10858500" cy="25717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284C7"/>
                </a:solidFill>
                <a:latin typeface="Kanit"/>
              </a:rPr>
              <a:t>สถาบันวิจัยดาราศาสตร์แห่งชาติ (NARIT) | GISTDA | narit.or.th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87" y="420618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