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UID ภาวนา" charset="1" panose="00000000000000000000"/>
      <p:regular r:id="rId15"/>
    </p:embeddedFont>
    <p:embeddedFont>
      <p:font typeface="Tahoma" charset="1" panose="020B0604030504040204"/>
      <p:regular r:id="rId16"/>
    </p:embeddedFont>
    <p:embeddedFont>
      <p:font typeface="Sarabun Bold" charset="1" panose="00000800000000000000"/>
      <p:regular r:id="rId17"/>
    </p:embeddedFont>
    <p:embeddedFont>
      <p:font typeface="Sarabun" charset="1" panose="00000500000000000000"/>
      <p:regular r:id="rId18"/>
    </p:embeddedFont>
    <p:embeddedFont>
      <p:font typeface="Arimo" charset="1" panose="020B0604020202020204"/>
      <p:regular r:id="rId19"/>
    </p:embeddedFont>
    <p:embeddedFont>
      <p:font typeface="Tahoma Bold" charset="1" panose="020B080403050404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7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10" t="-1954" r="0" b="-87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41310" y="2743200"/>
            <a:ext cx="19500105" cy="4916602"/>
            <a:chOff x="0" y="0"/>
            <a:chExt cx="5135830" cy="12949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5830" cy="1294907"/>
            </a:xfrm>
            <a:custGeom>
              <a:avLst/>
              <a:gdLst/>
              <a:ahLst/>
              <a:cxnLst/>
              <a:rect r="r" b="b" t="t" l="l"/>
              <a:pathLst>
                <a:path h="1294907" w="5135830">
                  <a:moveTo>
                    <a:pt x="0" y="0"/>
                  </a:moveTo>
                  <a:lnTo>
                    <a:pt x="5135830" y="0"/>
                  </a:lnTo>
                  <a:lnTo>
                    <a:pt x="5135830" y="1294907"/>
                  </a:lnTo>
                  <a:lnTo>
                    <a:pt x="0" y="1294907"/>
                  </a:lnTo>
                  <a:close/>
                </a:path>
              </a:pathLst>
            </a:custGeom>
            <a:solidFill>
              <a:srgbClr val="CBD5E1">
                <a:alpha val="4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135830" cy="1361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86675" y="3043238"/>
            <a:ext cx="2914650" cy="442912"/>
            <a:chOff x="0" y="0"/>
            <a:chExt cx="3886200" cy="5905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88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208044" y="6715125"/>
            <a:ext cx="3871912" cy="528638"/>
            <a:chOff x="0" y="0"/>
            <a:chExt cx="5162550" cy="7048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162550" cy="704850"/>
            </a:xfrm>
            <a:custGeom>
              <a:avLst/>
              <a:gdLst/>
              <a:ahLst/>
              <a:cxnLst/>
              <a:rect r="r" b="b" t="t" l="l"/>
              <a:pathLst>
                <a:path h="704850" w="5162550">
                  <a:moveTo>
                    <a:pt x="0" y="0"/>
                  </a:moveTo>
                  <a:lnTo>
                    <a:pt x="5162550" y="0"/>
                  </a:lnTo>
                  <a:lnTo>
                    <a:pt x="5162550" y="704850"/>
                  </a:lnTo>
                  <a:lnTo>
                    <a:pt x="0" y="70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15" r="0" b="-211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08044" y="6986588"/>
            <a:ext cx="171450" cy="200025"/>
            <a:chOff x="0" y="0"/>
            <a:chExt cx="228600" cy="2667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55" t="0" r="-55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546104" y="3695700"/>
            <a:ext cx="919579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>
                <a:solidFill>
                  <a:srgbClr val="0F172A"/>
                </a:solidFill>
                <a:latin typeface="UID ภาวนา"/>
                <a:ea typeface="UID ภาวนา"/>
                <a:cs typeface="UID ภาวนา"/>
                <a:sym typeface="UID ภาวนา"/>
              </a:rPr>
              <a:t>จากบิ๊กแบงสู่ห้วงอวกาศ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0500" y="4991100"/>
            <a:ext cx="10287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250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ร่วมเจาะลึกทฤษฎีกำเนิดจักรวาล ค้นพบความลึกลับสุดขอบระบบสุริยะ และเปิดประตูก้าวสำคัญที่ผลักดันประเทศไทยสู่เวทีอวกาศยุคดิจิทัล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15562" y="3286125"/>
            <a:ext cx="7072312" cy="4857750"/>
            <a:chOff x="0" y="0"/>
            <a:chExt cx="9429750" cy="6477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429750" cy="6477000"/>
            </a:xfrm>
            <a:custGeom>
              <a:avLst/>
              <a:gdLst/>
              <a:ahLst/>
              <a:cxnLst/>
              <a:rect r="r" b="b" t="t" l="l"/>
              <a:pathLst>
                <a:path h="647700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75057" y="2365125"/>
            <a:ext cx="8658431" cy="5936206"/>
            <a:chOff x="0" y="0"/>
            <a:chExt cx="939165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1650" cy="6438900"/>
            </a:xfrm>
            <a:custGeom>
              <a:avLst/>
              <a:gdLst/>
              <a:ahLst/>
              <a:cxnLst/>
              <a:rect r="r" b="b" t="t" l="l"/>
              <a:pathLst>
                <a:path h="6438900" w="9391650">
                  <a:moveTo>
                    <a:pt x="103316" y="0"/>
                  </a:moveTo>
                  <a:lnTo>
                    <a:pt x="9288334" y="0"/>
                  </a:lnTo>
                  <a:cubicBezTo>
                    <a:pt x="9315735" y="0"/>
                    <a:pt x="9342014" y="10885"/>
                    <a:pt x="9361389" y="30261"/>
                  </a:cubicBezTo>
                  <a:cubicBezTo>
                    <a:pt x="9380765" y="49636"/>
                    <a:pt x="9391650" y="75915"/>
                    <a:pt x="9391650" y="103316"/>
                  </a:cubicBezTo>
                  <a:lnTo>
                    <a:pt x="9391650" y="6335584"/>
                  </a:lnTo>
                  <a:cubicBezTo>
                    <a:pt x="9391650" y="6362985"/>
                    <a:pt x="9380765" y="6389264"/>
                    <a:pt x="9361389" y="6408639"/>
                  </a:cubicBezTo>
                  <a:cubicBezTo>
                    <a:pt x="9342014" y="6428015"/>
                    <a:pt x="9315735" y="6438900"/>
                    <a:pt x="9288334" y="6438900"/>
                  </a:cubicBezTo>
                  <a:lnTo>
                    <a:pt x="103316" y="6438900"/>
                  </a:lnTo>
                  <a:cubicBezTo>
                    <a:pt x="75915" y="6438900"/>
                    <a:pt x="49636" y="6428015"/>
                    <a:pt x="30261" y="6408639"/>
                  </a:cubicBezTo>
                  <a:cubicBezTo>
                    <a:pt x="10885" y="6389264"/>
                    <a:pt x="0" y="6362985"/>
                    <a:pt x="0" y="6335584"/>
                  </a:cubicBezTo>
                  <a:lnTo>
                    <a:pt x="0" y="103316"/>
                  </a:lnTo>
                  <a:cubicBezTo>
                    <a:pt x="0" y="75915"/>
                    <a:pt x="10885" y="49636"/>
                    <a:pt x="30261" y="30261"/>
                  </a:cubicBezTo>
                  <a:cubicBezTo>
                    <a:pt x="49636" y="10885"/>
                    <a:pt x="75915" y="0"/>
                    <a:pt x="103316" y="0"/>
                  </a:cubicBezTo>
                  <a:close/>
                </a:path>
              </a:pathLst>
            </a:custGeom>
            <a:blipFill>
              <a:blip r:embed="rId3"/>
              <a:stretch>
                <a:fillRect l="-1939" t="0" r="-193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0125" y="714375"/>
            <a:ext cx="71438" cy="714375"/>
            <a:chOff x="0" y="0"/>
            <a:chExt cx="95250" cy="95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5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00175" y="4140098"/>
            <a:ext cx="8243888" cy="8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จุดกำเนิดเอกภพ:</a:t>
            </a:r>
            <a:r>
              <a:rPr lang="en-US" sz="1912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ทฤษฎีบิ๊กแบง (Big Bang) ระบุว่าเมื่อราว 13,800 ล้านปีก่อน เอกภพขยายตัวอย่างฉับพลันจากจุดที่มีพลังงานและความหนาแน่นมหาศาล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0175" y="5145586"/>
            <a:ext cx="8243888" cy="8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การก่อตัวของสสาร:</a:t>
            </a:r>
            <a:r>
              <a:rPr lang="en-US" sz="1912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แรงและอนุภาคพื้นฐานเริ่มรวมตัว เกิดเป็นไฮโดรเจนและฮีเลียม ก่อนกลายเป็นดาวฤกษ์และกาแล็กซีในเวลาต่อมา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0175" y="6151064"/>
            <a:ext cx="8243888" cy="8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รังสีไมโครเวฟพื้นหลัง (CMB):</a:t>
            </a:r>
            <a:r>
              <a:rPr lang="en-US" sz="1912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คลื่นความร้อนจางๆ ทั่วท้องฟ้าเป็นหลักฐานชิ้นสำคัญที่แสดงถึงรอยจารึกของพลังงานตกค้างในยุคกำเนิดจักรวาล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4125811"/>
            <a:ext cx="18573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✦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5131298"/>
            <a:ext cx="18573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✦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" y="6136777"/>
            <a:ext cx="18573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✦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007" y="714375"/>
            <a:ext cx="1689211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บิ๊กแบง: จุดกำเนิดอวกาศและกาลเวลา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4286250"/>
            <a:ext cx="3746002" cy="1868538"/>
            <a:chOff x="0" y="0"/>
            <a:chExt cx="4994669" cy="249138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994656" cy="2491359"/>
            </a:xfrm>
            <a:custGeom>
              <a:avLst/>
              <a:gdLst/>
              <a:ahLst/>
              <a:cxnLst/>
              <a:rect r="r" b="b" t="t" l="l"/>
              <a:pathLst>
                <a:path h="2491359" w="4994656">
                  <a:moveTo>
                    <a:pt x="0" y="0"/>
                  </a:moveTo>
                  <a:lnTo>
                    <a:pt x="4994656" y="0"/>
                  </a:lnTo>
                  <a:lnTo>
                    <a:pt x="4994656" y="2491359"/>
                  </a:lnTo>
                  <a:lnTo>
                    <a:pt x="0" y="2491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1" t="0" r="-71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80562" y="5703837"/>
            <a:ext cx="3746002" cy="1868538"/>
            <a:chOff x="0" y="0"/>
            <a:chExt cx="4994669" cy="24913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994656" cy="2491359"/>
            </a:xfrm>
            <a:custGeom>
              <a:avLst/>
              <a:gdLst/>
              <a:ahLst/>
              <a:cxnLst/>
              <a:rect r="r" b="b" t="t" l="l"/>
              <a:pathLst>
                <a:path h="2491359" w="4994656">
                  <a:moveTo>
                    <a:pt x="0" y="0"/>
                  </a:moveTo>
                  <a:lnTo>
                    <a:pt x="4994656" y="0"/>
                  </a:lnTo>
                  <a:lnTo>
                    <a:pt x="4994656" y="2491359"/>
                  </a:lnTo>
                  <a:lnTo>
                    <a:pt x="0" y="2491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" t="0" r="-71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60989" y="4286250"/>
            <a:ext cx="3746002" cy="1868538"/>
            <a:chOff x="0" y="0"/>
            <a:chExt cx="4994669" cy="249138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994656" cy="2491359"/>
            </a:xfrm>
            <a:custGeom>
              <a:avLst/>
              <a:gdLst/>
              <a:ahLst/>
              <a:cxnLst/>
              <a:rect r="r" b="b" t="t" l="l"/>
              <a:pathLst>
                <a:path h="2491359" w="4994656">
                  <a:moveTo>
                    <a:pt x="0" y="0"/>
                  </a:moveTo>
                  <a:lnTo>
                    <a:pt x="4994656" y="0"/>
                  </a:lnTo>
                  <a:lnTo>
                    <a:pt x="4994656" y="2491359"/>
                  </a:lnTo>
                  <a:lnTo>
                    <a:pt x="0" y="2491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1" t="0" r="-71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541426" y="5703837"/>
            <a:ext cx="3746002" cy="1868538"/>
            <a:chOff x="0" y="0"/>
            <a:chExt cx="4994669" cy="249138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994656" cy="2491359"/>
            </a:xfrm>
            <a:custGeom>
              <a:avLst/>
              <a:gdLst/>
              <a:ahLst/>
              <a:cxnLst/>
              <a:rect r="r" b="b" t="t" l="l"/>
              <a:pathLst>
                <a:path h="2491359" w="4994656">
                  <a:moveTo>
                    <a:pt x="0" y="0"/>
                  </a:moveTo>
                  <a:lnTo>
                    <a:pt x="4994656" y="0"/>
                  </a:lnTo>
                  <a:lnTo>
                    <a:pt x="4994656" y="2491359"/>
                  </a:lnTo>
                  <a:lnTo>
                    <a:pt x="0" y="2491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" t="0" r="-71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0125" y="5900738"/>
            <a:ext cx="16287750" cy="57150"/>
            <a:chOff x="0" y="0"/>
            <a:chExt cx="217170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17000" cy="76200"/>
            </a:xfrm>
            <a:custGeom>
              <a:avLst/>
              <a:gdLst/>
              <a:ahLst/>
              <a:cxnLst/>
              <a:rect r="r" b="b" t="t" l="l"/>
              <a:pathLst>
                <a:path h="762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91511" y="4538662"/>
            <a:ext cx="336323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0 วินาที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588" y="5005387"/>
            <a:ext cx="3203077" cy="7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บิ๊กแบงเกิดขึ้น</a:t>
            </a:r>
            <a:r>
              <a:rPr lang="en-US" sz="1575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เอกภพขยายตัวอย่างรวดเร็ว (Cosmic Inflation)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71938" y="5956249"/>
            <a:ext cx="336323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3 นาที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52024" y="6422974"/>
            <a:ext cx="3203077" cy="7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นิวเคลียสอะตอมแรก</a:t>
            </a:r>
            <a:r>
              <a:rPr lang="en-US" sz="1575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นิวเคลียสของไฮโดรเจนและฮีเลียมเริ่มสร้างขึ้น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2375" y="4538662"/>
            <a:ext cx="336323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3.8 แสนปี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2452" y="5005387"/>
            <a:ext cx="3203077" cy="7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แสงเดินทางอิสระ</a:t>
            </a:r>
            <a:r>
              <a:rPr lang="en-US" sz="1575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อะตอมสมบูรณ์ เอกภพโปร่งแสงและเกิดคลื่น CMB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32812" y="5956249"/>
            <a:ext cx="336323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400 ล้านปี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12888" y="6422974"/>
            <a:ext cx="3203077" cy="7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ดาวฤกษ์ดวงแรก</a:t>
            </a:r>
            <a:r>
              <a:rPr lang="en-US" sz="1575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สสารจับกลุ่มกันด้วยแรงโน้มถ่วงและยุบตัวจุดระเบิด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0150" y="714375"/>
            <a:ext cx="1689211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วิวัฒนาการเอกภพ 1.38 หมื่นล้านปี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0125" y="714375"/>
            <a:ext cx="71438" cy="714375"/>
            <a:chOff x="0" y="0"/>
            <a:chExt cx="95250" cy="952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25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715958" y="5772150"/>
            <a:ext cx="314325" cy="314325"/>
            <a:chOff x="0" y="0"/>
            <a:chExt cx="4191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896395" y="5772150"/>
            <a:ext cx="314325" cy="314325"/>
            <a:chOff x="0" y="0"/>
            <a:chExt cx="419100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076832" y="5772150"/>
            <a:ext cx="314325" cy="314325"/>
            <a:chOff x="0" y="0"/>
            <a:chExt cx="419100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257259" y="5772150"/>
            <a:ext cx="314325" cy="314325"/>
            <a:chOff x="0" y="0"/>
            <a:chExt cx="419100" cy="419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284C7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00150" y="785812"/>
            <a:ext cx="75909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สุดขอบระบบสุริยะ: แถบไคเปอร์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00125" y="785812"/>
            <a:ext cx="71438" cy="714375"/>
            <a:chOff x="0" y="0"/>
            <a:chExt cx="95250" cy="95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5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0125" y="4445194"/>
            <a:ext cx="78009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ดินแดนน้ำแข็งเยือกแข็งห่างไกล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" y="5011931"/>
            <a:ext cx="7429500" cy="74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ถัดจากวงโคจรดาวเนปจูนออกไปราว 30 ถึง 50 เท่าของระยะทางจากโลกถึงดวงอาทิตย์ คือพื้นที่ที่เรียกว่า </a:t>
            </a:r>
            <a:r>
              <a:rPr lang="en-US" sz="1912" b="true">
                <a:solidFill>
                  <a:srgbClr val="475569"/>
                </a:solidFill>
                <a:latin typeface="Tahoma Bold"/>
                <a:ea typeface="Tahoma Bold"/>
                <a:cs typeface="Tahoma Bold"/>
                <a:sym typeface="Tahoma Bold"/>
              </a:rPr>
              <a:t>"แถบไคเปอร์" (Kuiper Belt)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5960269"/>
            <a:ext cx="7429500" cy="74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ดินแดนแห่งนี้เป็นแหล่งรวมวัตถุน้ำแข็ง ดาวเคราะห์แคระ เช่น ดาวพลูโต และเศษสสารดึกดำบรรพ์ที่คงสภาพตั้งแต่ยุคแรกเริ่มของการสร้างระบบสุริยะ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3200400"/>
            <a:ext cx="5191049" cy="5029200"/>
            <a:chOff x="0" y="0"/>
            <a:chExt cx="6921398" cy="6705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21373" cy="6705600"/>
            </a:xfrm>
            <a:custGeom>
              <a:avLst/>
              <a:gdLst/>
              <a:ahLst/>
              <a:cxnLst/>
              <a:rect r="r" b="b" t="t" l="l"/>
              <a:pathLst>
                <a:path h="6705600" w="6921373">
                  <a:moveTo>
                    <a:pt x="0" y="0"/>
                  </a:moveTo>
                  <a:lnTo>
                    <a:pt x="6921373" y="0"/>
                  </a:lnTo>
                  <a:lnTo>
                    <a:pt x="6921373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2" t="0" r="-9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48361" y="3200400"/>
            <a:ext cx="5191049" cy="5029200"/>
            <a:chOff x="0" y="0"/>
            <a:chExt cx="6921398" cy="6705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21373" cy="6705600"/>
            </a:xfrm>
            <a:custGeom>
              <a:avLst/>
              <a:gdLst/>
              <a:ahLst/>
              <a:cxnLst/>
              <a:rect r="r" b="b" t="t" l="l"/>
              <a:pathLst>
                <a:path h="6705600" w="6921373">
                  <a:moveTo>
                    <a:pt x="0" y="0"/>
                  </a:moveTo>
                  <a:lnTo>
                    <a:pt x="6921373" y="0"/>
                  </a:lnTo>
                  <a:lnTo>
                    <a:pt x="6921373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2" t="0" r="-9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6598" y="3200400"/>
            <a:ext cx="5191049" cy="5029200"/>
            <a:chOff x="0" y="0"/>
            <a:chExt cx="6921398" cy="6705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21373" cy="6705600"/>
            </a:xfrm>
            <a:custGeom>
              <a:avLst/>
              <a:gdLst/>
              <a:ahLst/>
              <a:cxnLst/>
              <a:rect r="r" b="b" t="t" l="l"/>
              <a:pathLst>
                <a:path h="6705600" w="6921373">
                  <a:moveTo>
                    <a:pt x="0" y="0"/>
                  </a:moveTo>
                  <a:lnTo>
                    <a:pt x="6921373" y="0"/>
                  </a:lnTo>
                  <a:lnTo>
                    <a:pt x="6921373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2" t="0" r="-9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571875"/>
            <a:ext cx="4448099" cy="2571750"/>
            <a:chOff x="0" y="0"/>
            <a:chExt cx="5930798" cy="3429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930773" cy="3429000"/>
            </a:xfrm>
            <a:custGeom>
              <a:avLst/>
              <a:gdLst/>
              <a:ahLst/>
              <a:cxnLst/>
              <a:rect r="r" b="b" t="t" l="l"/>
              <a:pathLst>
                <a:path h="342900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7" t="0" r="-10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19836" y="3571875"/>
            <a:ext cx="4448099" cy="2571750"/>
            <a:chOff x="0" y="0"/>
            <a:chExt cx="5930798" cy="3429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930773" cy="3429000"/>
            </a:xfrm>
            <a:custGeom>
              <a:avLst/>
              <a:gdLst/>
              <a:ahLst/>
              <a:cxnLst/>
              <a:rect r="r" b="b" t="t" l="l"/>
              <a:pathLst>
                <a:path h="342900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7" t="0" r="-10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468073" y="3571875"/>
            <a:ext cx="4448099" cy="2571750"/>
            <a:chOff x="0" y="0"/>
            <a:chExt cx="5930798" cy="3429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930773" cy="3429000"/>
            </a:xfrm>
            <a:custGeom>
              <a:avLst/>
              <a:gdLst/>
              <a:ahLst/>
              <a:cxnLst/>
              <a:rect r="r" b="b" t="t" l="l"/>
              <a:pathLst>
                <a:path h="342900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7" t="0" r="-10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71600" y="6410325"/>
            <a:ext cx="150018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1. เฮลิโอพอส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1600" y="6924675"/>
            <a:ext cx="444809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จุดที่ลมสุริยะพัดไปสิ้นสุดและปะทะกับรังสีคอสมิกจากนอกกาแล็กซี ถือเป็นเกราะด่านแรก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9836" y="6410325"/>
            <a:ext cx="13801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2. เมฆออร์ท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9836" y="6924675"/>
            <a:ext cx="444809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ขอบเขตแรงโน้มถ่วงดวงอาทิตย์ที่ห่างไปไกลกว่า 1 ปีแสง แหล่งรวมตัวของดาวหางคาบยาว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68073" y="6410325"/>
            <a:ext cx="244530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3. อวกาศระหว่างดาว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68073" y="6924675"/>
            <a:ext cx="444809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น่านอวกาศว่างเปล่าที่ลึกลับ ยาน Voyager 1 และ 2 เป็นวัตถุที่มนุษย์สร้างและไปเยือนได้สำเร็จ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85888" y="3586162"/>
            <a:ext cx="4419524" cy="2543175"/>
            <a:chOff x="0" y="0"/>
            <a:chExt cx="5892698" cy="33909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892673" cy="3390900"/>
            </a:xfrm>
            <a:custGeom>
              <a:avLst/>
              <a:gdLst/>
              <a:ahLst/>
              <a:cxnLst/>
              <a:rect r="r" b="b" t="t" l="l"/>
              <a:pathLst>
                <a:path h="3390900" w="5892673">
                  <a:moveTo>
                    <a:pt x="0" y="0"/>
                  </a:moveTo>
                  <a:lnTo>
                    <a:pt x="5892673" y="0"/>
                  </a:lnTo>
                  <a:lnTo>
                    <a:pt x="5892673" y="3390900"/>
                  </a:lnTo>
                  <a:lnTo>
                    <a:pt x="0" y="339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8" r="0" b="-12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34124" y="3586162"/>
            <a:ext cx="4419524" cy="2543175"/>
            <a:chOff x="0" y="0"/>
            <a:chExt cx="5892698" cy="33909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892673" cy="3390900"/>
            </a:xfrm>
            <a:custGeom>
              <a:avLst/>
              <a:gdLst/>
              <a:ahLst/>
              <a:cxnLst/>
              <a:rect r="r" b="b" t="t" l="l"/>
              <a:pathLst>
                <a:path h="3390900" w="5892673">
                  <a:moveTo>
                    <a:pt x="0" y="0"/>
                  </a:moveTo>
                  <a:lnTo>
                    <a:pt x="5892673" y="0"/>
                  </a:lnTo>
                  <a:lnTo>
                    <a:pt x="5892673" y="3390900"/>
                  </a:lnTo>
                  <a:lnTo>
                    <a:pt x="0" y="339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8" r="0" b="-12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82360" y="3586162"/>
            <a:ext cx="4419524" cy="2543175"/>
            <a:chOff x="0" y="0"/>
            <a:chExt cx="5892698" cy="33909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892673" cy="3390900"/>
            </a:xfrm>
            <a:custGeom>
              <a:avLst/>
              <a:gdLst/>
              <a:ahLst/>
              <a:cxnLst/>
              <a:rect r="r" b="b" t="t" l="l"/>
              <a:pathLst>
                <a:path h="3390900" w="5892673">
                  <a:moveTo>
                    <a:pt x="0" y="0"/>
                  </a:moveTo>
                  <a:lnTo>
                    <a:pt x="5892673" y="0"/>
                  </a:lnTo>
                  <a:lnTo>
                    <a:pt x="5892673" y="3390900"/>
                  </a:lnTo>
                  <a:lnTo>
                    <a:pt x="0" y="339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8" r="0" b="-128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00150" y="714375"/>
            <a:ext cx="1689211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สามพรมแดนปลายขอบของระบบสุริยะ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00125" y="714375"/>
            <a:ext cx="71438" cy="714375"/>
            <a:chOff x="0" y="0"/>
            <a:chExt cx="95250" cy="952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25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1857375"/>
            <a:ext cx="16287750" cy="7715250"/>
            <a:chOff x="0" y="0"/>
            <a:chExt cx="21717000" cy="10287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7170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0125" y="6498136"/>
            <a:ext cx="16287750" cy="1148353"/>
            <a:chOff x="0" y="0"/>
            <a:chExt cx="21717000" cy="153113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717000" cy="1531112"/>
            </a:xfrm>
            <a:custGeom>
              <a:avLst/>
              <a:gdLst/>
              <a:ahLst/>
              <a:cxnLst/>
              <a:rect r="r" b="b" t="t" l="l"/>
              <a:pathLst>
                <a:path h="1531112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531112"/>
                  </a:lnTo>
                  <a:lnTo>
                    <a:pt x="0" y="1531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11" r="0" b="-101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0150" y="714375"/>
            <a:ext cx="1689211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ระยะทางการเดินทางในระบบสุริยะชั้นนอก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00125" y="714375"/>
            <a:ext cx="71438" cy="714375"/>
            <a:chOff x="0" y="0"/>
            <a:chExt cx="95250" cy="952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5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15562" y="3286125"/>
            <a:ext cx="7072312" cy="4857750"/>
            <a:chOff x="0" y="0"/>
            <a:chExt cx="9429750" cy="6477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429750" cy="6477000"/>
            </a:xfrm>
            <a:custGeom>
              <a:avLst/>
              <a:gdLst/>
              <a:ahLst/>
              <a:cxnLst/>
              <a:rect r="r" b="b" t="t" l="l"/>
              <a:pathLst>
                <a:path h="647700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0175" y="4140098"/>
            <a:ext cx="8243888" cy="8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ดาวเทียมฝีมือคนไทย THEOS-2:</a:t>
            </a:r>
            <a:r>
              <a:rPr lang="en-US" sz="1912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ดาวเทียมสำรวจทรัพยากรโลกความละเอียดสูงพิเศษ ช่วยยกระดับเทคโนโลยีภูมิสารสนเทศของชาติ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0175" y="5145586"/>
            <a:ext cx="8243888" cy="8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ภาคีวิจัยอวกาศไทย (TSC):</a:t>
            </a:r>
            <a:r>
              <a:rPr lang="en-US" sz="1912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การลงนามความร่วมมือระหว่างสถาบันวิทยาศาสตร์ เพื่อออกแบบและสร้างยานสำรวจและดาวเทียมด้วยฝีมือคนไทย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0175" y="6151064"/>
            <a:ext cx="8243888" cy="8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 b="true">
                <a:solidFill>
                  <a:srgbClr val="475569"/>
                </a:solidFill>
                <a:latin typeface="Sarabun Bold"/>
                <a:ea typeface="Sarabun Bold"/>
                <a:cs typeface="Sarabun Bold"/>
                <a:sym typeface="Sarabun Bold"/>
              </a:rPr>
              <a:t>พันธมิตรระดับสากล:</a:t>
            </a:r>
            <a:r>
              <a:rPr lang="en-US" sz="1912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การร่วมวิจัยพัฒนาในโครงการดวงจันทร์ Chang'e 8 แสดงถึงการได้รับการยอมรับทางวิศวกรรมระดับโลก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29850" y="3300412"/>
            <a:ext cx="7043738" cy="4829175"/>
            <a:chOff x="0" y="0"/>
            <a:chExt cx="9391650" cy="64389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9391650" cy="6438900"/>
            </a:xfrm>
            <a:custGeom>
              <a:avLst/>
              <a:gdLst/>
              <a:ahLst/>
              <a:cxnLst/>
              <a:rect r="r" b="b" t="t" l="l"/>
              <a:pathLst>
                <a:path h="6438900" w="9391650">
                  <a:moveTo>
                    <a:pt x="0" y="0"/>
                  </a:moveTo>
                  <a:lnTo>
                    <a:pt x="9391650" y="0"/>
                  </a:lnTo>
                  <a:lnTo>
                    <a:pt x="9391650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2" r="0" b="-9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0125" y="4125811"/>
            <a:ext cx="18573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✦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5131298"/>
            <a:ext cx="18573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✦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" y="6136777"/>
            <a:ext cx="18573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✦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50" y="714375"/>
            <a:ext cx="1689211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คนไทยสู่อวกาศ: นวัตกรรมดาวเทียม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0125" y="714375"/>
            <a:ext cx="71438" cy="714375"/>
            <a:chOff x="0" y="0"/>
            <a:chExt cx="95250" cy="95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5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3808066"/>
            <a:ext cx="7858125" cy="3813867"/>
            <a:chOff x="0" y="0"/>
            <a:chExt cx="10477500" cy="508515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5085207"/>
            </a:xfrm>
            <a:custGeom>
              <a:avLst/>
              <a:gdLst/>
              <a:ahLst/>
              <a:cxnLst/>
              <a:rect r="r" b="b" t="t" l="l"/>
              <a:pathLst>
                <a:path h="5085207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085207"/>
                  </a:lnTo>
                  <a:lnTo>
                    <a:pt x="0" y="508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9" r="0" b="-19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808066"/>
            <a:ext cx="7858125" cy="3813867"/>
            <a:chOff x="0" y="0"/>
            <a:chExt cx="10477500" cy="508515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5085207"/>
            </a:xfrm>
            <a:custGeom>
              <a:avLst/>
              <a:gdLst/>
              <a:ahLst/>
              <a:cxnLst/>
              <a:rect r="r" b="b" t="t" l="l"/>
              <a:pathLst>
                <a:path h="5085207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085207"/>
                  </a:lnTo>
                  <a:lnTo>
                    <a:pt x="0" y="508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9" r="0" b="-19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4475" y="4250979"/>
            <a:ext cx="71708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สร้างห่วงโซ่อุตสาหกรรมในประเทศ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4475" y="4817716"/>
            <a:ext cx="6829425" cy="112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การพัฒนาชิ้นส่วนดาวเทียมและสถานีควบคุมภาคพื้นดินช่วยยกระดับความรู้ในสถาบันการศึกษาและวิศวกรไทย โดยลดการนำเข้าและส่งออกทักษะระดับสูงสู่ตลาดโลก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4475" y="6154484"/>
            <a:ext cx="6829425" cy="74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สร้างระบบนิเวศนวัตกรรมใหม่ด้าน Deep Tech และอวกาศที่กระตุ้นมูลค่าเชิงเศรษฐกิจอุตสาหกรรมในประเทศกว่า 5.6 หมื่นล้านบาทต่อปี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4100" y="4250979"/>
            <a:ext cx="71708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ประโยชน์สู่ชุมชนและชีวิตประจำวัน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4100" y="4817716"/>
            <a:ext cx="6829425" cy="112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ข้อมูลอวกาศมีบทบาทสำคัญมากในการพยากรณ์อากาศที่แม่นยำเพื่อภาคการเกษตร การตรวจวัดวิเคราะห์ฝุ่นพิษ PM 2.5 ตลอดจนจัดการภัยพิบัติและน้ำท่วมฉับพลัน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44100" y="6154484"/>
            <a:ext cx="6829425" cy="74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นวัตกรรมเหล่านี้ไม่ใช่เรื่องไกลตัว แต่เป็นโครงสร้างพื้นฐานยุคดิจิทัลเพื่อคุณภาพชีวิตที่ดีขึ้นของคนไทยทุกคน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50" y="714375"/>
            <a:ext cx="1689211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อนาคตและโอกาสเศรษฐกิจอวกาศไทย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0125" y="714375"/>
            <a:ext cx="71438" cy="714375"/>
            <a:chOff x="0" y="0"/>
            <a:chExt cx="95250" cy="95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5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2931" y="3653876"/>
            <a:ext cx="1710213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>
                <a:solidFill>
                  <a:srgbClr val="0F172A"/>
                </a:solidFill>
                <a:latin typeface="Tahoma"/>
                <a:ea typeface="Tahoma"/>
                <a:cs typeface="Tahoma"/>
                <a:sym typeface="Tahoma"/>
              </a:rPr>
              <a:t>มีคำถามข้อเสนอแนะเพิ่มเติมไหม?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0125" y="5068338"/>
            <a:ext cx="1628775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Tahoma"/>
                <a:ea typeface="Tahoma"/>
                <a:cs typeface="Tahoma"/>
                <a:sym typeface="Tahoma"/>
              </a:rPr>
              <a:t>เพื่อการเดินทางค้นหาคำตอบทางวิทยาศาสตร์ และความก้าวหน้าด้านเทคโนโลยีอวกาศของประเทศไทย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7775" y="6237837"/>
            <a:ext cx="160401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0284C7"/>
                </a:solidFill>
                <a:latin typeface="Tahoma"/>
                <a:ea typeface="Tahoma"/>
                <a:cs typeface="Tahoma"/>
                <a:sym typeface="Tahoma"/>
              </a:rPr>
              <a:t>สถาบันวิจัยดาราศาสตร์แห่งชาติ (NARIT) | GISTDA | narit.or.th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79281" y="6309274"/>
            <a:ext cx="257175" cy="257175"/>
            <a:chOff x="0" y="0"/>
            <a:chExt cx="342900" cy="3429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DAHP4fDixsc</dc:identifier>
  <dcterms:modified xsi:type="dcterms:W3CDTF">2011-08-01T06:04:30Z</dcterms:modified>
  <cp:revision>1</cp:revision>
  <dc:title>กำเนิดและสุดขอบจักรวาล.pptx</dc:title>
</cp:coreProperties>
</file>